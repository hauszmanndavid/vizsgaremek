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5"/>
  </p:notesMasterIdLst>
  <p:handoutMasterIdLst>
    <p:handoutMasterId r:id="rId26"/>
  </p:handoutMasterIdLst>
  <p:sldIdLst>
    <p:sldId id="315" r:id="rId5"/>
    <p:sldId id="266" r:id="rId6"/>
    <p:sldId id="309" r:id="rId7"/>
    <p:sldId id="271" r:id="rId8"/>
    <p:sldId id="327" r:id="rId9"/>
    <p:sldId id="328" r:id="rId10"/>
    <p:sldId id="316" r:id="rId11"/>
    <p:sldId id="329" r:id="rId12"/>
    <p:sldId id="330" r:id="rId13"/>
    <p:sldId id="332" r:id="rId14"/>
    <p:sldId id="333" r:id="rId15"/>
    <p:sldId id="334" r:id="rId16"/>
    <p:sldId id="321" r:id="rId17"/>
    <p:sldId id="323" r:id="rId18"/>
    <p:sldId id="322" r:id="rId19"/>
    <p:sldId id="318" r:id="rId20"/>
    <p:sldId id="326" r:id="rId21"/>
    <p:sldId id="310" r:id="rId22"/>
    <p:sldId id="331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D59E3-BEAB-435D-95FD-507E0FF21D29}" v="73" dt="2026-04-30T22:55:23.632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3" y="9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215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60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897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5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5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C61DF6-3A2D-55DA-8448-C2D07707E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340BB-A35D-C47D-F28F-6FBE043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DAB0E-1B08-9A3E-38B2-E60401CC0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A4B38-C41B-0C14-CB28-67E97211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D99EC-B9CC-A1AC-EFF4-B65977F5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280CA-3626-981C-CF19-E559E0DA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C9117-F419-BD57-1080-86A4D136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4386-29C8-95E0-C9D9-78F27AD2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6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22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8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7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2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7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6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0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88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213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92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37857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9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4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9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59004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682" r:id="rId2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log.mossroy.fr/2019/09/14/bascule-sur-spring-boot-dune-application-java-legacy/" TargetMode="External"/><Relationship Id="rId5" Type="http://schemas.openxmlformats.org/officeDocument/2006/relationships/image" Target="../media/image21.png"/><Relationship Id="rId4" Type="http://schemas.openxmlformats.org/officeDocument/2006/relationships/hyperlink" Target="https://ru.wikipedia.org/wiki/TypeScrip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InnerCar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361923"/>
            <a:ext cx="6376511" cy="1433103"/>
          </a:xfrm>
        </p:spPr>
        <p:txBody>
          <a:bodyPr>
            <a:normAutofit/>
          </a:bodyPr>
          <a:lstStyle/>
          <a:p>
            <a:r>
              <a:rPr lang="en-US" dirty="0" err="1"/>
              <a:t>Csapattagok</a:t>
            </a:r>
            <a:r>
              <a:rPr lang="en-US" dirty="0"/>
              <a:t>:</a:t>
            </a:r>
            <a:endParaRPr lang="en-US" dirty="0">
              <a:ea typeface="Meiryo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Schmidt Árpád Balázs - PM, Backend, </a:t>
            </a:r>
            <a:r>
              <a:rPr lang="en-US"/>
              <a:t>Frontend</a:t>
            </a:r>
            <a:endParaRPr lang="hu-HU" dirty="0">
              <a:ea typeface="Meiryo"/>
            </a:endParaRPr>
          </a:p>
          <a:p>
            <a:r>
              <a:rPr lang="en-US">
                <a:ea typeface="Meiryo"/>
              </a:rPr>
              <a:t>Berecz Richárd - Database, Design </a:t>
            </a:r>
          </a:p>
        </p:txBody>
      </p:sp>
      <p:pic>
        <p:nvPicPr>
          <p:cNvPr id="2" name="Kép 1" descr="A képen Emberi arc, személy, ruházat, portré látható&#10;&#10;Lehet, hogy az AI által létrehozott tartalom helytelen.">
            <a:extLst>
              <a:ext uri="{FF2B5EF4-FFF2-40B4-BE49-F238E27FC236}">
                <a16:creationId xmlns:a16="http://schemas.microsoft.com/office/drawing/2014/main" id="{9301EFBE-8ADB-1486-0D92-56DD55761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785" y="1367118"/>
            <a:ext cx="1747665" cy="18601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Kép 2" descr="A képen személy, Emberi arc, nyakkendő, ruházat látható&#10;&#10;Lehet, hogy az AI által létrehozott tartalom helytelen.">
            <a:extLst>
              <a:ext uri="{FF2B5EF4-FFF2-40B4-BE49-F238E27FC236}">
                <a16:creationId xmlns:a16="http://schemas.microsoft.com/office/drawing/2014/main" id="{D88243BC-C12D-C611-D61F-C55D92EFD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060" y="3899646"/>
            <a:ext cx="1755115" cy="18713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iryo"/>
              </a:rPr>
              <a:t>A </a:t>
            </a:r>
            <a:r>
              <a:rPr lang="en-US" dirty="0" err="1">
                <a:ea typeface="Meiryo"/>
              </a:rPr>
              <a:t>projekt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célja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elképzelések</a:t>
            </a:r>
            <a:r>
              <a:rPr lang="en-US" dirty="0">
                <a:ea typeface="Meiryo"/>
              </a:rPr>
              <a:t>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Meiryo"/>
              </a:rPr>
              <a:t>Egy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összesített</a:t>
            </a:r>
            <a:r>
              <a:rPr lang="en-US" dirty="0">
                <a:ea typeface="Meiryo"/>
              </a:rPr>
              <a:t> </a:t>
            </a:r>
            <a:r>
              <a:rPr lang="en-US" dirty="0" err="1">
                <a:ea typeface="Meiryo"/>
              </a:rPr>
              <a:t>autóbelső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alkatrész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weboldal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azoknak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akik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az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autó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belső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részét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szeretnék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szépítgetni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alakítgatni</a:t>
            </a:r>
            <a:r>
              <a:rPr lang="en-US" dirty="0">
                <a:ea typeface="Meiryo"/>
              </a:rPr>
              <a:t>, de </a:t>
            </a:r>
            <a:r>
              <a:rPr lang="en-US" dirty="0" err="1">
                <a:ea typeface="Meiryo"/>
              </a:rPr>
              <a:t>adott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alkatrészeket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az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autósboltokban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nem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illetve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nem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megfizethető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áron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találtak</a:t>
            </a:r>
            <a:r>
              <a:rPr lang="en-US" dirty="0">
                <a:ea typeface="Meiry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19934" cy="611240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675" y="1483619"/>
            <a:ext cx="5274323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800" b="0" cap="all" dirty="0" err="1">
                <a:solidFill>
                  <a:schemeClr val="tx2"/>
                </a:solidFill>
              </a:rPr>
              <a:t>Dizájnterv</a:t>
            </a:r>
            <a:r>
              <a:rPr lang="en-US" sz="4800" b="0" cap="all" dirty="0">
                <a:solidFill>
                  <a:schemeClr val="tx2"/>
                </a:solidFill>
              </a:rPr>
              <a:t>  </a:t>
            </a:r>
            <a:endParaRPr lang="en-US" sz="4800" b="0" cap="all" dirty="0">
              <a:solidFill>
                <a:schemeClr val="tx2"/>
              </a:solidFill>
              <a:ea typeface="Meiryo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5AAE23-FCB6-4663-907C-0110B0FD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5468" y="6167615"/>
            <a:ext cx="46034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969C2C-E7E3-4052-87D4-61E733EC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1459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15F8368A-F651-1BCF-BC84-6B46C5F5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15" y="1714500"/>
            <a:ext cx="5143500" cy="3429000"/>
          </a:xfrm>
          <a:prstGeom prst="rect">
            <a:avLst/>
          </a:prstGeom>
        </p:spPr>
      </p:pic>
      <p:pic>
        <p:nvPicPr>
          <p:cNvPr id="3" name="Kép 2" descr="A képen szöveg, képernyőkép, Téglala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CBDB69C-AC21-D602-3475-D95CF410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434" y="1710152"/>
            <a:ext cx="5340349" cy="343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0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Téglala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7D2A8FF-91FE-E1F3-C9C4-0CF8A42A2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82" y="1710568"/>
            <a:ext cx="5632035" cy="3580432"/>
          </a:xfrm>
          <a:prstGeom prst="rect">
            <a:avLst/>
          </a:prstGeom>
        </p:spPr>
      </p:pic>
      <p:pic>
        <p:nvPicPr>
          <p:cNvPr id="3" name="Kép 2" descr="A képen szöveg, képernyőkép, Betűtípus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0161FF26-73DC-38FC-4221-6AEFF530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76" y="1712084"/>
            <a:ext cx="5624029" cy="35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4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Webhely látható&#10;&#10;Lehet, hogy az AI által létrehozott tartalom helytelen.">
            <a:extLst>
              <a:ext uri="{FF2B5EF4-FFF2-40B4-BE49-F238E27FC236}">
                <a16:creationId xmlns:a16="http://schemas.microsoft.com/office/drawing/2014/main" id="{19C89A4D-A39F-DEB9-1B64-B7095DE5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72" y="1611381"/>
            <a:ext cx="5735568" cy="3646280"/>
          </a:xfrm>
          <a:prstGeom prst="rect">
            <a:avLst/>
          </a:prstGeom>
        </p:spPr>
      </p:pic>
      <p:pic>
        <p:nvPicPr>
          <p:cNvPr id="3" name="Kép 2" descr="A képen szöveg, képernyőkép, Téglalap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CC0D3498-B274-A3D0-A1A5-343B78870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313" y="1606412"/>
            <a:ext cx="5912678" cy="363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85F60160-989C-9728-B3BE-FF9AB951A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58" y="1819481"/>
            <a:ext cx="5158684" cy="3230080"/>
          </a:xfrm>
          <a:prstGeom prst="rect">
            <a:avLst/>
          </a:prstGeom>
        </p:spPr>
      </p:pic>
      <p:pic>
        <p:nvPicPr>
          <p:cNvPr id="3" name="Kép 2" descr="A képen szöveg, képernyőkép, szoftver, Webhely látható&#10;&#10;Lehet, hogy az AI által létrehozott tartalom helytelen.">
            <a:extLst>
              <a:ext uri="{FF2B5EF4-FFF2-40B4-BE49-F238E27FC236}">
                <a16:creationId xmlns:a16="http://schemas.microsoft.com/office/drawing/2014/main" id="{5D9C61D3-D6F0-C8BE-EB47-D8F3E4D30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862" y="1816653"/>
            <a:ext cx="5320885" cy="322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4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szöveg, képernyőkép, szoftver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421075FC-B76C-ECBD-1109-4FC567F7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56" y="1717054"/>
            <a:ext cx="5066886" cy="3125718"/>
          </a:xfrm>
          <a:prstGeom prst="rect">
            <a:avLst/>
          </a:prstGeom>
        </p:spPr>
      </p:pic>
      <p:pic>
        <p:nvPicPr>
          <p:cNvPr id="3" name="Kép 2" descr="A képen szöveg, képernyőkép, szoftver, Operációs rendszer látható&#10;&#10;Lehet, hogy az AI által létrehozott tartalom helytelen.">
            <a:extLst>
              <a:ext uri="{FF2B5EF4-FFF2-40B4-BE49-F238E27FC236}">
                <a16:creationId xmlns:a16="http://schemas.microsoft.com/office/drawing/2014/main" id="{9002C7F7-48CA-C027-5EC8-E6A6E844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441" y="1712291"/>
            <a:ext cx="5202858" cy="31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46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F696A88F-8B9E-032B-E542-14216F71AEFB}"/>
              </a:ext>
            </a:extLst>
          </p:cNvPr>
          <p:cNvSpPr txBox="1">
            <a:spLocks/>
          </p:cNvSpPr>
          <p:nvPr/>
        </p:nvSpPr>
        <p:spPr>
          <a:xfrm>
            <a:off x="707554" y="1206188"/>
            <a:ext cx="5386049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Roleok:</a:t>
            </a:r>
          </a:p>
          <a:p>
            <a:endParaRPr lang="hu-HU" sz="280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Admin</a:t>
            </a: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User</a:t>
            </a:r>
            <a:endParaRPr lang="hu-HU" sz="2800" b="0" dirty="0">
              <a:ea typeface="Meiryo"/>
            </a:endParaRPr>
          </a:p>
        </p:txBody>
      </p:sp>
      <p:pic>
        <p:nvPicPr>
          <p:cNvPr id="4" name="Kép 3" descr="A képen vázlat, rajz, fekete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A9393A92-069F-D6E5-B60B-358F9D74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448" y="928204"/>
            <a:ext cx="1915280" cy="2218635"/>
          </a:xfrm>
          <a:prstGeom prst="rect">
            <a:avLst/>
          </a:prstGeom>
        </p:spPr>
      </p:pic>
      <p:pic>
        <p:nvPicPr>
          <p:cNvPr id="5" name="Kép 4" descr="Clipart - Person icon">
            <a:extLst>
              <a:ext uri="{FF2B5EF4-FFF2-40B4-BE49-F238E27FC236}">
                <a16:creationId xmlns:a16="http://schemas.microsoft.com/office/drawing/2014/main" id="{A4267D98-237D-8B55-6E1F-E15FC5E05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439" y="4075595"/>
            <a:ext cx="1917295" cy="2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7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8137521B-D2A5-49AB-6E12-09B9E9ECA08E}"/>
              </a:ext>
            </a:extLst>
          </p:cNvPr>
          <p:cNvSpPr txBox="1">
            <a:spLocks/>
          </p:cNvSpPr>
          <p:nvPr/>
        </p:nvSpPr>
        <p:spPr>
          <a:xfrm>
            <a:off x="707554" y="885927"/>
            <a:ext cx="5386049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Admin lehetőségei:</a:t>
            </a:r>
          </a:p>
          <a:p>
            <a:endParaRPr lang="hu-HU" sz="280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Termékek kezelése</a:t>
            </a: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Felhasználók kezelése</a:t>
            </a: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Rendelések kezelése</a:t>
            </a:r>
            <a:endParaRPr lang="hu-HU" sz="2800" b="0" dirty="0">
              <a:ea typeface="Meiryo"/>
            </a:endParaRPr>
          </a:p>
        </p:txBody>
      </p:sp>
      <p:pic>
        <p:nvPicPr>
          <p:cNvPr id="5" name="Kép 4" descr="A képen vázlat, rajz, fekete, Grafika látható&#10;&#10;Lehet, hogy az AI által létrehozott tartalom helytelen.">
            <a:extLst>
              <a:ext uri="{FF2B5EF4-FFF2-40B4-BE49-F238E27FC236}">
                <a16:creationId xmlns:a16="http://schemas.microsoft.com/office/drawing/2014/main" id="{19B36DC2-370A-93BC-6EEE-4E5A9939D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75" y="2032553"/>
            <a:ext cx="2401193" cy="27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1">
            <a:extLst>
              <a:ext uri="{FF2B5EF4-FFF2-40B4-BE49-F238E27FC236}">
                <a16:creationId xmlns:a16="http://schemas.microsoft.com/office/drawing/2014/main" id="{0B221D3A-D026-76EF-6B77-05783EC4B562}"/>
              </a:ext>
            </a:extLst>
          </p:cNvPr>
          <p:cNvSpPr txBox="1">
            <a:spLocks/>
          </p:cNvSpPr>
          <p:nvPr/>
        </p:nvSpPr>
        <p:spPr>
          <a:xfrm>
            <a:off x="707554" y="885927"/>
            <a:ext cx="5386049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User lehetőségei:</a:t>
            </a:r>
          </a:p>
          <a:p>
            <a:endParaRPr lang="hu-HU" sz="280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Profil kezelése</a:t>
            </a:r>
            <a:endParaRPr lang="hu-HU"/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Kedvencek kezelése</a:t>
            </a:r>
          </a:p>
          <a:p>
            <a:pPr marL="457200" indent="-457200">
              <a:buFont typeface="Calibri"/>
              <a:buChar char="-"/>
            </a:pPr>
            <a:endParaRPr lang="hu-HU" sz="2800" b="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r>
              <a:rPr lang="hu-HU" sz="2800" b="0">
                <a:ea typeface="Meiryo"/>
              </a:rPr>
              <a:t>Beállítások</a:t>
            </a:r>
          </a:p>
        </p:txBody>
      </p:sp>
      <p:pic>
        <p:nvPicPr>
          <p:cNvPr id="7" name="Kép 6" descr="Clipart - Person icon">
            <a:extLst>
              <a:ext uri="{FF2B5EF4-FFF2-40B4-BE49-F238E27FC236}">
                <a16:creationId xmlns:a16="http://schemas.microsoft.com/office/drawing/2014/main" id="{701BD281-2DC6-A029-7415-263BB9B47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26" y="2253421"/>
            <a:ext cx="1917295" cy="2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2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2E3218F0-6D72-9111-ACB3-27EE05EC4346}"/>
              </a:ext>
            </a:extLst>
          </p:cNvPr>
          <p:cNvSpPr txBox="1">
            <a:spLocks/>
          </p:cNvSpPr>
          <p:nvPr/>
        </p:nvSpPr>
        <p:spPr>
          <a:xfrm>
            <a:off x="354163" y="289579"/>
            <a:ext cx="5386049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Adatbázis:</a:t>
            </a:r>
          </a:p>
        </p:txBody>
      </p:sp>
      <p:pic>
        <p:nvPicPr>
          <p:cNvPr id="2" name="Kép 1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756F1297-4000-EE87-AB93-9BE7DC8C1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97" y="2554899"/>
            <a:ext cx="6060099" cy="1759928"/>
          </a:xfrm>
          <a:prstGeom prst="rect">
            <a:avLst/>
          </a:prstGeom>
        </p:spPr>
      </p:pic>
      <p:pic>
        <p:nvPicPr>
          <p:cNvPr id="5" name="Kép 4" descr="A képen szöveg, képernyőkép, szám, Párhuzamos látható&#10;&#10;Lehet, hogy az AI által létrehozott tartalom helytelen.">
            <a:extLst>
              <a:ext uri="{FF2B5EF4-FFF2-40B4-BE49-F238E27FC236}">
                <a16:creationId xmlns:a16="http://schemas.microsoft.com/office/drawing/2014/main" id="{0F148F6D-262C-EBF9-2D4D-F1E50902D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31" y="1383323"/>
            <a:ext cx="5251585" cy="516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04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BF44E3EB-ED50-83AC-7F4A-517121F30F3B}"/>
              </a:ext>
            </a:extLst>
          </p:cNvPr>
          <p:cNvSpPr txBox="1">
            <a:spLocks/>
          </p:cNvSpPr>
          <p:nvPr/>
        </p:nvSpPr>
        <p:spPr>
          <a:xfrm>
            <a:off x="354163" y="466275"/>
            <a:ext cx="5386049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Tesztek:</a:t>
            </a:r>
            <a:endParaRPr lang="hu-HU"/>
          </a:p>
        </p:txBody>
      </p:sp>
      <p:pic>
        <p:nvPicPr>
          <p:cNvPr id="4" name="Kép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F0545C4-F214-3521-EA21-C221BB316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1" y="1295450"/>
            <a:ext cx="11617740" cy="475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7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41815FA9-BC7E-0749-1E4F-06559A1AA1D7}"/>
              </a:ext>
            </a:extLst>
          </p:cNvPr>
          <p:cNvSpPr txBox="1">
            <a:spLocks/>
          </p:cNvSpPr>
          <p:nvPr/>
        </p:nvSpPr>
        <p:spPr>
          <a:xfrm>
            <a:off x="354163" y="289579"/>
            <a:ext cx="8511353" cy="83109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2800">
                <a:ea typeface="Meiryo"/>
              </a:rPr>
              <a:t>Munkával eltöltött idő:</a:t>
            </a:r>
          </a:p>
        </p:txBody>
      </p:sp>
      <p:pic>
        <p:nvPicPr>
          <p:cNvPr id="3" name="Kép 2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9F352696-2458-DCB6-1DAD-336E787A5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3" y="1997631"/>
            <a:ext cx="11570678" cy="7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2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AC20EECA-ACB1-C0E3-0744-A477818200AF}"/>
              </a:ext>
            </a:extLst>
          </p:cNvPr>
          <p:cNvSpPr txBox="1"/>
          <p:nvPr/>
        </p:nvSpPr>
        <p:spPr>
          <a:xfrm>
            <a:off x="938483" y="648657"/>
            <a:ext cx="6631641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b="1">
                <a:ea typeface="Meiryo"/>
              </a:rPr>
              <a:t>Használt technológiák:</a:t>
            </a:r>
            <a:endParaRPr lang="hu-HU"/>
          </a:p>
          <a:p>
            <a:endParaRPr lang="hu-HU" sz="3200" b="1" dirty="0">
              <a:ea typeface="Meiryo"/>
            </a:endParaRPr>
          </a:p>
          <a:p>
            <a:r>
              <a:rPr lang="hu-HU" sz="2000" b="1" dirty="0">
                <a:ea typeface="Meiryo"/>
              </a:rPr>
              <a:t>Frontend:</a:t>
            </a:r>
            <a:r>
              <a:rPr lang="hu-HU" sz="2000" dirty="0">
                <a:ea typeface="Meiryo"/>
              </a:rPr>
              <a:t> </a:t>
            </a:r>
          </a:p>
          <a:p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 err="1">
                <a:ea typeface="Meiryo"/>
              </a:rPr>
              <a:t>Angular</a:t>
            </a: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 err="1">
                <a:ea typeface="Meiryo"/>
              </a:rPr>
              <a:t>TypeScript</a:t>
            </a:r>
            <a:endParaRPr lang="hu-HU" sz="200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endParaRPr lang="hu-HU" sz="2000" dirty="0">
              <a:ea typeface="Meiryo"/>
            </a:endParaRPr>
          </a:p>
          <a:p>
            <a:r>
              <a:rPr lang="hu-HU" sz="2000" b="1" dirty="0">
                <a:ea typeface="Meiryo"/>
              </a:rPr>
              <a:t>Backend:</a:t>
            </a:r>
          </a:p>
          <a:p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 err="1">
                <a:ea typeface="Meiryo"/>
              </a:rPr>
              <a:t>SpringBoot</a:t>
            </a:r>
            <a:endParaRPr lang="hu-HU" sz="200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 dirty="0">
                <a:ea typeface="Meiryo"/>
              </a:rPr>
              <a:t>Java</a:t>
            </a: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400" dirty="0">
              <a:ea typeface="Meiryo"/>
            </a:endParaRPr>
          </a:p>
        </p:txBody>
      </p:sp>
      <p:pic>
        <p:nvPicPr>
          <p:cNvPr id="3" name="Kép 2" descr="Smart Grid Web Component | Grid | Smart UI for Web Components">
            <a:extLst>
              <a:ext uri="{FF2B5EF4-FFF2-40B4-BE49-F238E27FC236}">
                <a16:creationId xmlns:a16="http://schemas.microsoft.com/office/drawing/2014/main" id="{327B327E-6CC5-F2F0-15B4-9C73DE6A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514" y="987668"/>
            <a:ext cx="1471248" cy="1459525"/>
          </a:xfrm>
          <a:prstGeom prst="rect">
            <a:avLst/>
          </a:prstGeom>
        </p:spPr>
      </p:pic>
      <p:pic>
        <p:nvPicPr>
          <p:cNvPr id="4" name="Kép 3" descr="A képen kör, Grafika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A15009D-7012-F3AB-FDFF-E7C6843DE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44453" y="3132992"/>
            <a:ext cx="1471248" cy="1471247"/>
          </a:xfrm>
          <a:prstGeom prst="rect">
            <a:avLst/>
          </a:prstGeom>
        </p:spPr>
      </p:pic>
      <p:pic>
        <p:nvPicPr>
          <p:cNvPr id="7" name="Kép 6" descr="A képen Betűtípus, Grafika, embléma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7453C3B-B709-A780-4B16-05D11F34A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704991" y="5269889"/>
            <a:ext cx="2866293" cy="1523268"/>
          </a:xfrm>
          <a:prstGeom prst="rect">
            <a:avLst/>
          </a:prstGeom>
        </p:spPr>
      </p:pic>
      <p:pic>
        <p:nvPicPr>
          <p:cNvPr id="5" name="Kép 4" descr="Nuevo Foundation Workshops">
            <a:extLst>
              <a:ext uri="{FF2B5EF4-FFF2-40B4-BE49-F238E27FC236}">
                <a16:creationId xmlns:a16="http://schemas.microsoft.com/office/drawing/2014/main" id="{61CE5CE4-8FCF-C4CD-A262-5CD91D2C2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1870" y="2195147"/>
            <a:ext cx="1498630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43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DBD1-C910-EFA8-802F-EC3D61CA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1CF7996C-5C5D-B075-A56D-97E38A7BD971}"/>
              </a:ext>
            </a:extLst>
          </p:cNvPr>
          <p:cNvSpPr txBox="1"/>
          <p:nvPr/>
        </p:nvSpPr>
        <p:spPr>
          <a:xfrm>
            <a:off x="938483" y="648657"/>
            <a:ext cx="663164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b="1">
                <a:ea typeface="Meiryo"/>
              </a:rPr>
              <a:t>Használt technológiák:</a:t>
            </a:r>
            <a:endParaRPr lang="hu-HU" dirty="0">
              <a:ea typeface="Meiryo"/>
            </a:endParaRPr>
          </a:p>
          <a:p>
            <a:endParaRPr lang="hu-HU" sz="2000" b="1" dirty="0">
              <a:ea typeface="Meiryo"/>
            </a:endParaRPr>
          </a:p>
          <a:p>
            <a:endParaRPr lang="hu-HU" sz="2000" b="1" dirty="0">
              <a:ea typeface="Meiryo"/>
            </a:endParaRPr>
          </a:p>
          <a:p>
            <a:r>
              <a:rPr lang="hu-HU" sz="2000" b="1">
                <a:ea typeface="Meiryo"/>
              </a:rPr>
              <a:t>DataBase:</a:t>
            </a:r>
            <a:r>
              <a:rPr lang="hu-HU" sz="2000" dirty="0">
                <a:ea typeface="Meiryo"/>
              </a:rPr>
              <a:t> </a:t>
            </a:r>
            <a:endParaRPr lang="hu-HU">
              <a:ea typeface="Meiryo"/>
            </a:endParaRPr>
          </a:p>
          <a:p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 err="1">
                <a:ea typeface="Meiryo"/>
              </a:rPr>
              <a:t>MySQL</a:t>
            </a:r>
            <a:endParaRPr lang="hu-HU" err="1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endParaRPr lang="hu-HU" sz="2000" dirty="0">
              <a:ea typeface="Meiryo"/>
            </a:endParaRPr>
          </a:p>
          <a:p>
            <a:endParaRPr lang="hu-HU" sz="2000" dirty="0">
              <a:ea typeface="Meiryo"/>
            </a:endParaRPr>
          </a:p>
          <a:p>
            <a:pPr marL="457200" indent="-457200">
              <a:buFont typeface="Calibri"/>
              <a:buChar char="-"/>
            </a:pPr>
            <a:endParaRPr lang="hu-HU" sz="2400" dirty="0">
              <a:ea typeface="Meiryo"/>
            </a:endParaRPr>
          </a:p>
        </p:txBody>
      </p:sp>
      <p:pic>
        <p:nvPicPr>
          <p:cNvPr id="3" name="Kép 2" descr="Mysql">
            <a:extLst>
              <a:ext uri="{FF2B5EF4-FFF2-40B4-BE49-F238E27FC236}">
                <a16:creationId xmlns:a16="http://schemas.microsoft.com/office/drawing/2014/main" id="{1CE9A707-034B-E007-21BC-4950E3D57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240" y="1128535"/>
            <a:ext cx="3130062" cy="196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35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Jövőbeli</a:t>
            </a:r>
            <a:r>
              <a:rPr lang="en-US" dirty="0"/>
              <a:t> </a:t>
            </a:r>
            <a:r>
              <a:rPr lang="en-US" dirty="0" err="1"/>
              <a:t>feladatok</a:t>
            </a:r>
            <a:r>
              <a:rPr lang="en-US" dirty="0"/>
              <a:t>: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Calibri" panose="020B0503020204020204" pitchFamily="34" charset="0"/>
              <a:buChar char="-"/>
            </a:pPr>
            <a:r>
              <a:rPr lang="en-US" dirty="0" err="1">
                <a:ea typeface="Meiryo"/>
              </a:rPr>
              <a:t>Adminoldalon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termékek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felvételénél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kategóriák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megadása</a:t>
            </a:r>
            <a:r>
              <a:rPr lang="en-US" dirty="0">
                <a:ea typeface="Meiryo"/>
              </a:rPr>
              <a:t>, </a:t>
            </a:r>
            <a:r>
              <a:rPr lang="en-US" dirty="0" err="1">
                <a:ea typeface="Meiryo"/>
              </a:rPr>
              <a:t>vagy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törlése</a:t>
            </a:r>
            <a:endParaRPr lang="en-US" dirty="0">
              <a:ea typeface="Meiryo"/>
            </a:endParaRPr>
          </a:p>
          <a:p>
            <a:pPr marL="285750" indent="-285750">
              <a:buFont typeface="Calibri" panose="020B0503020204020204" pitchFamily="34" charset="0"/>
              <a:buChar char="-"/>
            </a:pPr>
            <a:r>
              <a:rPr lang="en-US" dirty="0">
                <a:ea typeface="Meiryo"/>
              </a:rPr>
              <a:t>Az </a:t>
            </a:r>
            <a:r>
              <a:rPr lang="en-US" dirty="0" err="1">
                <a:ea typeface="Meiryo"/>
              </a:rPr>
              <a:t>oldal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javítása</a:t>
            </a:r>
            <a:r>
              <a:rPr lang="en-US" dirty="0">
                <a:ea typeface="Meiryo"/>
              </a:rPr>
              <a:t> </a:t>
            </a:r>
            <a:r>
              <a:rPr lang="en-US" dirty="0" err="1">
                <a:ea typeface="Meiryo"/>
              </a:rPr>
              <a:t>visszajelzések</a:t>
            </a:r>
            <a:r>
              <a:rPr lang="en-US" dirty="0">
                <a:ea typeface="Meiryo"/>
              </a:rPr>
              <a:t> </a:t>
            </a:r>
            <a:r>
              <a:rPr lang="en-US" dirty="0" err="1">
                <a:ea typeface="Meiryo"/>
              </a:rPr>
              <a:t>alapján</a:t>
            </a:r>
            <a:r>
              <a:rPr lang="en-US" dirty="0">
                <a:ea typeface="Meiryo"/>
              </a:rPr>
              <a:t> </a:t>
            </a:r>
          </a:p>
          <a:p>
            <a:pPr marL="285750" indent="-285750">
              <a:buFont typeface="Calibri" panose="020B0503020204020204" pitchFamily="34" charset="0"/>
              <a:buChar char="-"/>
            </a:pPr>
            <a:endParaRPr lang="en-US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4E5DBF6-4A7D-0745-8F61-9B6CB8367BE8}"/>
              </a:ext>
            </a:extLst>
          </p:cNvPr>
          <p:cNvSpPr txBox="1"/>
          <p:nvPr/>
        </p:nvSpPr>
        <p:spPr>
          <a:xfrm>
            <a:off x="781601" y="1657186"/>
            <a:ext cx="663164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b="1">
                <a:ea typeface="Meiryo"/>
              </a:rPr>
              <a:t>Eddigi visszajelzések:</a:t>
            </a:r>
            <a:endParaRPr lang="hu-HU"/>
          </a:p>
          <a:p>
            <a:endParaRPr lang="hu-HU" sz="3200" b="1" dirty="0">
              <a:ea typeface="Meiryo"/>
            </a:endParaRPr>
          </a:p>
          <a:p>
            <a:endParaRPr lang="hu-HU" sz="2000" b="1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>
                <a:ea typeface="Meiryo"/>
              </a:rPr>
              <a:t>Többnyire pozitív</a:t>
            </a: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r>
              <a:rPr lang="hu-HU" sz="2000">
                <a:ea typeface="Meiryo"/>
              </a:rPr>
              <a:t>Kisebb hibák</a:t>
            </a: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  <a:p>
            <a:pPr marL="342900" indent="-342900">
              <a:buFont typeface="Calibri"/>
              <a:buChar char="-"/>
            </a:pPr>
            <a:endParaRPr lang="hu-HU" sz="2000" dirty="0"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22858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Köszönjük</a:t>
            </a:r>
            <a:r>
              <a:rPr lang="en-US" dirty="0"/>
              <a:t> a </a:t>
            </a:r>
            <a:r>
              <a:rPr lang="en-US" dirty="0" err="1"/>
              <a:t>figyelmet</a:t>
            </a:r>
            <a:r>
              <a:rPr lang="en-US" dirty="0"/>
              <a:t>!</a:t>
            </a:r>
            <a:endParaRPr lang="hu-H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Schmidt Árpád Balázs</a:t>
            </a:r>
          </a:p>
          <a:p>
            <a:r>
              <a:rPr lang="en-US" dirty="0">
                <a:ea typeface="Meiryo"/>
              </a:rPr>
              <a:t>Berecz Richárd</a:t>
            </a:r>
          </a:p>
          <a:p>
            <a:r>
              <a:rPr lang="en-US" dirty="0">
                <a:ea typeface="Meiryo"/>
              </a:rPr>
              <a:t>13.D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ShojiVTI</Template>
  <TotalTime>0</TotalTime>
  <Words>417</Words>
  <Application>Microsoft Office PowerPoint</Application>
  <PresentationFormat>Szélesvásznú</PresentationFormat>
  <Paragraphs>120</Paragraphs>
  <Slides>20</Slides>
  <Notes>6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1" baseType="lpstr">
      <vt:lpstr>ShojiVTI</vt:lpstr>
      <vt:lpstr>InnerCar</vt:lpstr>
      <vt:lpstr>Csapattagok:</vt:lpstr>
      <vt:lpstr>A projekt célja, elképzelések:</vt:lpstr>
      <vt:lpstr>Dizájnterv 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Jövőbeli feladatok: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620</cp:revision>
  <dcterms:created xsi:type="dcterms:W3CDTF">2025-10-14T11:53:00Z</dcterms:created>
  <dcterms:modified xsi:type="dcterms:W3CDTF">2026-04-30T23:01:13Z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